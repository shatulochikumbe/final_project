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arlow Semi-Bold" charset="1" panose="00000700000000000000"/>
      <p:regular r:id="rId21"/>
    </p:embeddedFont>
    <p:embeddedFont>
      <p:font typeface="Barlow" charset="1" panose="00000500000000000000"/>
      <p:regular r:id="rId22"/>
    </p:embeddedFont>
    <p:embeddedFont>
      <p:font typeface="Barlow Bold" charset="1" panose="00000800000000000000"/>
      <p:regular r:id="rId23"/>
    </p:embeddedFont>
    <p:embeddedFont>
      <p:font typeface="Barlow Medium" charset="1" panose="00000600000000000000"/>
      <p:regular r:id="rId24"/>
    </p:embeddedFont>
    <p:embeddedFont>
      <p:font typeface="Garet Bold" charset="1" panose="00000000000000000000"/>
      <p:regular r:id="rId25"/>
    </p:embeddedFont>
    <p:embeddedFont>
      <p:font typeface="Garet" charset="1" panose="00000000000000000000"/>
      <p:regular r:id="rId26"/>
    </p:embeddedFont>
    <p:embeddedFont>
      <p:font typeface="Canva Sans Medium" charset="1" panose="020B0603030501040103"/>
      <p:regular r:id="rId27"/>
    </p:embeddedFont>
    <p:embeddedFont>
      <p:font typeface="Canva Sans" charset="1" panose="020B05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https://www.linkedin.com/in/lorraine-wambiru/" TargetMode="External" Type="http://schemas.openxmlformats.org/officeDocument/2006/relationships/hyperlink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B6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52450"/>
            <a:ext cx="9601200" cy="11544300"/>
          </a:xfrm>
          <a:custGeom>
            <a:avLst/>
            <a:gdLst/>
            <a:ahLst/>
            <a:cxnLst/>
            <a:rect r="r" b="b" t="t" l="l"/>
            <a:pathLst>
              <a:path h="11544300" w="9601200">
                <a:moveTo>
                  <a:pt x="0" y="0"/>
                </a:moveTo>
                <a:lnTo>
                  <a:pt x="9601200" y="0"/>
                </a:lnTo>
                <a:lnTo>
                  <a:pt x="9601200" y="11544300"/>
                </a:lnTo>
                <a:lnTo>
                  <a:pt x="0" y="1154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81" t="-2505" r="0" b="-100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3663" y="143884"/>
            <a:ext cx="1837509" cy="1837509"/>
          </a:xfrm>
          <a:custGeom>
            <a:avLst/>
            <a:gdLst/>
            <a:ahLst/>
            <a:cxnLst/>
            <a:rect r="r" b="b" t="t" l="l"/>
            <a:pathLst>
              <a:path h="1837509" w="1837509">
                <a:moveTo>
                  <a:pt x="0" y="0"/>
                </a:moveTo>
                <a:lnTo>
                  <a:pt x="1837510" y="0"/>
                </a:lnTo>
                <a:lnTo>
                  <a:pt x="1837510" y="1837510"/>
                </a:lnTo>
                <a:lnTo>
                  <a:pt x="0" y="18375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55641" y="2211959"/>
            <a:ext cx="5863082" cy="5863082"/>
          </a:xfrm>
          <a:custGeom>
            <a:avLst/>
            <a:gdLst/>
            <a:ahLst/>
            <a:cxnLst/>
            <a:rect r="r" b="b" t="t" l="l"/>
            <a:pathLst>
              <a:path h="5863082" w="5863082">
                <a:moveTo>
                  <a:pt x="0" y="0"/>
                </a:moveTo>
                <a:lnTo>
                  <a:pt x="5863082" y="0"/>
                </a:lnTo>
                <a:lnTo>
                  <a:pt x="5863082" y="5863082"/>
                </a:lnTo>
                <a:lnTo>
                  <a:pt x="0" y="5863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54482"/>
            <a:ext cx="7802966" cy="271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924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ZaNuri </a:t>
            </a:r>
          </a:p>
          <a:p>
            <a:pPr algn="l">
              <a:lnSpc>
                <a:spcPts val="8924"/>
              </a:lnSpc>
            </a:pPr>
            <a:r>
              <a:rPr lang="en-US" sz="8924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 </a:t>
            </a:r>
          </a:p>
          <a:p>
            <a:pPr algn="l">
              <a:lnSpc>
                <a:spcPts val="3724"/>
              </a:lnSpc>
            </a:pPr>
            <a:r>
              <a:rPr lang="en-US" sz="3724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By Shatulo Chikumbe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9257" y="9576600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258270" y="-349930"/>
            <a:ext cx="7708159" cy="10986860"/>
          </a:xfrm>
          <a:prstGeom prst="rect">
            <a:avLst/>
          </a:prstGeom>
          <a:solidFill>
            <a:srgbClr val="0BB6BC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168903" y="1302526"/>
            <a:ext cx="9154008" cy="8096808"/>
            <a:chOff x="0" y="0"/>
            <a:chExt cx="12205344" cy="1079574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2205344" cy="1417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55"/>
                </a:lnSpc>
              </a:pPr>
              <a:r>
                <a:rPr lang="en-US" b="true" sz="6962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Problem Statement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14454"/>
              <a:ext cx="12205344" cy="8981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50"/>
                </a:lnSpc>
              </a:pPr>
            </a:p>
            <a:p>
              <a:pPr algn="l">
                <a:lnSpc>
                  <a:spcPts val="3850"/>
                </a:lnSpc>
              </a:pPr>
              <a:r>
                <a:rPr lang="en-US" sz="2750">
                  <a:solidFill>
                    <a:srgbClr val="000000"/>
                  </a:solidFill>
                  <a:latin typeface="Barlow"/>
                  <a:ea typeface="Barlow"/>
                  <a:cs typeface="Barlow"/>
                  <a:sym typeface="Barlow"/>
                </a:rPr>
                <a:t>Lusaka is facing a silent health crisis driven by dietary changes.</a:t>
              </a:r>
            </a:p>
            <a:p>
              <a:pPr algn="l" marL="593871" indent="-296936" lvl="1">
                <a:lnSpc>
                  <a:spcPts val="3850"/>
                </a:lnSpc>
                <a:buFont typeface="Arial"/>
                <a:buChar char="•"/>
              </a:pPr>
              <a:r>
                <a:rPr lang="en-US" sz="2750">
                  <a:solidFill>
                    <a:srgbClr val="000000"/>
                  </a:solidFill>
                  <a:latin typeface="Barlow"/>
                  <a:ea typeface="Barlow"/>
                  <a:cs typeface="Barlow"/>
                  <a:sym typeface="Barlow"/>
                </a:rPr>
                <a:t>The r</a:t>
              </a:r>
              <a:r>
                <a:rPr lang="en-US" sz="2750">
                  <a:solidFill>
                    <a:srgbClr val="000000"/>
                  </a:solidFill>
                  <a:latin typeface="Barlow"/>
                  <a:ea typeface="Barlow"/>
                  <a:cs typeface="Barlow"/>
                  <a:sym typeface="Barlow"/>
                </a:rPr>
                <a:t>ising incomes are shifting diets towards processed foods, leading to an explosion of lifestyle diseases (diabetes, hypertension) while undernutrition and micronutrient deficiencies persist.</a:t>
              </a:r>
            </a:p>
            <a:p>
              <a:pPr algn="l" marL="593871" indent="-296936" lvl="1">
                <a:lnSpc>
                  <a:spcPts val="3850"/>
                </a:lnSpc>
                <a:buFont typeface="Arial"/>
                <a:buChar char="•"/>
              </a:pPr>
              <a:r>
                <a:rPr lang="en-US" sz="2750">
                  <a:solidFill>
                    <a:srgbClr val="000000"/>
                  </a:solidFill>
                  <a:latin typeface="Barlow"/>
                  <a:ea typeface="Barlow"/>
                  <a:cs typeface="Barlow"/>
                  <a:sym typeface="Barlow"/>
                </a:rPr>
                <a:t>Generic health advice fails to account for individual factors: budget, cultural preferences, local food availability, health conditions, and taste.</a:t>
              </a:r>
            </a:p>
            <a:p>
              <a:pPr algn="l" marL="593871" indent="-296936" lvl="1">
                <a:lnSpc>
                  <a:spcPts val="3850"/>
                </a:lnSpc>
                <a:buFont typeface="Arial"/>
                <a:buChar char="•"/>
              </a:pPr>
              <a:r>
                <a:rPr lang="en-US" sz="2750">
                  <a:solidFill>
                    <a:srgbClr val="000000"/>
                  </a:solidFill>
                  <a:latin typeface="Barlow"/>
                  <a:ea typeface="Barlow"/>
                  <a:cs typeface="Barlow"/>
                  <a:sym typeface="Barlow"/>
                </a:rPr>
                <a:t>Busy urban families struggle to plan meals that are healthy, affordable, and satisfying, leading to poor choices and food waste.</a:t>
              </a:r>
            </a:p>
            <a:p>
              <a:pPr algn="l">
                <a:lnSpc>
                  <a:spcPts val="385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29257" y="893789"/>
            <a:ext cx="1079292" cy="269823"/>
          </a:xfrm>
          <a:custGeom>
            <a:avLst/>
            <a:gdLst/>
            <a:ahLst/>
            <a:cxnLst/>
            <a:rect r="r" b="b" t="t" l="l"/>
            <a:pathLst>
              <a:path h="269823" w="1079292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54998" y="1305154"/>
            <a:ext cx="6894802" cy="7676692"/>
          </a:xfrm>
          <a:custGeom>
            <a:avLst/>
            <a:gdLst/>
            <a:ahLst/>
            <a:cxnLst/>
            <a:rect r="r" b="b" t="t" l="l"/>
            <a:pathLst>
              <a:path h="7676692" w="6894802">
                <a:moveTo>
                  <a:pt x="0" y="0"/>
                </a:moveTo>
                <a:lnTo>
                  <a:pt x="6894802" y="0"/>
                </a:lnTo>
                <a:lnTo>
                  <a:pt x="6894802" y="7676692"/>
                </a:lnTo>
                <a:lnTo>
                  <a:pt x="0" y="7676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8821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798"/>
            <a:ext cx="1059192" cy="1059192"/>
            <a:chOff x="0" y="0"/>
            <a:chExt cx="1412257" cy="141225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412257" cy="1412257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0113E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474293" y="543843"/>
              <a:ext cx="463671" cy="324570"/>
            </a:xfrm>
            <a:custGeom>
              <a:avLst/>
              <a:gdLst/>
              <a:ahLst/>
              <a:cxnLst/>
              <a:rect r="r" b="b" t="t" l="l"/>
              <a:pathLst>
                <a:path h="324570" w="463671">
                  <a:moveTo>
                    <a:pt x="0" y="0"/>
                  </a:moveTo>
                  <a:lnTo>
                    <a:pt x="463671" y="0"/>
                  </a:lnTo>
                  <a:lnTo>
                    <a:pt x="463671" y="324570"/>
                  </a:lnTo>
                  <a:lnTo>
                    <a:pt x="0" y="32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625742"/>
            <a:ext cx="9571112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b="true" sz="8000" u="none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Solution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96354"/>
            <a:ext cx="16820543" cy="74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3190" indent="-451595" lvl="1">
              <a:lnSpc>
                <a:spcPts val="5856"/>
              </a:lnSpc>
              <a:buFont typeface="Arial"/>
              <a:buChar char="•"/>
            </a:pPr>
            <a:r>
              <a:rPr lang="en-US" b="true" sz="4183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AI-Driven Personalization:</a:t>
            </a:r>
            <a:r>
              <a:rPr lang="en-US" sz="418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Our algorithm creates unique nutrition and meal plans based on individual health data, goals, budget, annd taste preferences.</a:t>
            </a:r>
          </a:p>
          <a:p>
            <a:pPr algn="l" marL="903190" indent="-451595" lvl="1">
              <a:lnSpc>
                <a:spcPts val="5856"/>
              </a:lnSpc>
              <a:buFont typeface="Arial"/>
              <a:buChar char="•"/>
            </a:pPr>
            <a:r>
              <a:rPr lang="en-US" b="true" sz="4183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Culturally &amp; Locally Intelligent:</a:t>
            </a:r>
            <a:r>
              <a:rPr lang="en-US" sz="418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Our database is built on Zambian staples, local recipes, and real-time data from Lusaka markets, ensuring relevance and practicality.</a:t>
            </a:r>
          </a:p>
          <a:p>
            <a:pPr algn="l" marL="903190" indent="-451595" lvl="1">
              <a:lnSpc>
                <a:spcPts val="5856"/>
              </a:lnSpc>
              <a:buFont typeface="Arial"/>
              <a:buChar char="•"/>
            </a:pPr>
            <a:r>
              <a:rPr lang="en-US" b="true" sz="4183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Seamless Integration:</a:t>
            </a:r>
            <a:r>
              <a:rPr lang="en-US" sz="4183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We bridge the gap between planning and eating. Get a personalized plan, a smart shopping list, and direct access to a network of vendors for delivery or pickup.</a:t>
            </a:r>
          </a:p>
          <a:p>
            <a:pPr algn="ctr">
              <a:lnSpc>
                <a:spcPts val="585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4338"/>
            <a:ext cx="866371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 u="none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Product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4400" y="7351817"/>
            <a:ext cx="2651460" cy="186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  <a:spcBef>
                <a:spcPct val="0"/>
              </a:spcBef>
            </a:pPr>
            <a:r>
              <a:rPr lang="en-US" sz="271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Create Account and conduct a 2-minute health quiz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59280" y="7377705"/>
            <a:ext cx="2831584" cy="85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  <a:spcBef>
                <a:spcPct val="0"/>
              </a:spcBef>
            </a:pPr>
            <a:r>
              <a:rPr lang="en-US" sz="2474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Dynamic Meal Planner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85553" y="7387230"/>
            <a:ext cx="1706861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Smart Shopping List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99120" y="7351817"/>
            <a:ext cx="209945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Vendor Marketplace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08422" y="7342292"/>
            <a:ext cx="2233254" cy="86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5"/>
              </a:lnSpc>
              <a:spcBef>
                <a:spcPct val="0"/>
              </a:spcBef>
            </a:pPr>
            <a:r>
              <a:rPr lang="en-US" sz="2496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Progress Tracker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873593" y="1898067"/>
            <a:ext cx="2651460" cy="5246370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40490" t="0" r="-46429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4043980" y="1895897"/>
            <a:ext cx="2651460" cy="5246370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113107" t="0" r="-69996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7513254" y="1898067"/>
            <a:ext cx="2651460" cy="5246370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1798" t="0" r="-41252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10983864" y="1898067"/>
            <a:ext cx="2651460" cy="5246370"/>
            <a:chOff x="0" y="0"/>
            <a:chExt cx="2620010" cy="51841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53578" t="0" r="-88911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9" id="49"/>
          <p:cNvGrpSpPr>
            <a:grpSpLocks noChangeAspect="true"/>
          </p:cNvGrpSpPr>
          <p:nvPr/>
        </p:nvGrpSpPr>
        <p:grpSpPr>
          <a:xfrm rot="0">
            <a:off x="14208422" y="1898067"/>
            <a:ext cx="2651460" cy="5246370"/>
            <a:chOff x="0" y="0"/>
            <a:chExt cx="2620010" cy="51841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85747" t="0" r="-85747" b="0"/>
              </a:stretch>
            </a:blip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00057" y="1309688"/>
            <a:ext cx="9082750" cy="3022640"/>
            <a:chOff x="0" y="0"/>
            <a:chExt cx="12110334" cy="40301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2110334" cy="163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20"/>
                </a:lnSpc>
              </a:pPr>
              <a:r>
                <a:rPr lang="en-US" b="true" sz="8100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3</a:t>
              </a:r>
              <a:r>
                <a:rPr lang="en-US" b="true" sz="8100" u="none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out 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23985"/>
              <a:ext cx="12110334" cy="2206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Most health-conscious urban professionals and parents in Lusaka (aged 25-45) with smartphones are busy.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00057" y="4439027"/>
            <a:ext cx="9082750" cy="2460665"/>
            <a:chOff x="0" y="0"/>
            <a:chExt cx="12110334" cy="32808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12110334" cy="163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20"/>
                </a:lnSpc>
              </a:pPr>
              <a:r>
                <a:rPr lang="en-US" b="true" sz="8100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60</a:t>
              </a:r>
              <a:r>
                <a:rPr lang="en-US" b="true" sz="8100" u="none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%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823985"/>
              <a:ext cx="12110334" cy="1456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Have disposable income, and are actively seeking solutions for their family's health.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00057" y="7337777"/>
            <a:ext cx="9082750" cy="1898690"/>
            <a:chOff x="0" y="0"/>
            <a:chExt cx="12110334" cy="253158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12110334" cy="163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20"/>
                </a:lnSpc>
              </a:pPr>
              <a:r>
                <a:rPr lang="en-US" b="true" sz="8100">
                  <a:solidFill>
                    <a:srgbClr val="000000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60,000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823985"/>
              <a:ext cx="12110334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This will be the number of users based in Lusaka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4552" y="4493818"/>
            <a:ext cx="4249772" cy="2479033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4552" y="7932974"/>
            <a:ext cx="4249772" cy="1345761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4552" y="1616182"/>
            <a:ext cx="4249772" cy="1919056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8682" y="0"/>
            <a:ext cx="908275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Target Market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078355" y="553141"/>
            <a:ext cx="11624143" cy="878741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61501" y="2005965"/>
            <a:ext cx="8608790" cy="725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TAM (Total Addressable Market):</a:t>
            </a:r>
            <a:r>
              <a:rPr lang="en-US" sz="29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About 4 million Zambian households have universal need for nutrition.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SAM (Serviceable Addressable Market):</a:t>
            </a:r>
            <a:r>
              <a:rPr lang="en-US" sz="29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Urban households in Lusaka and other major towns with mobile internet access are about 1.2 million people.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SOM (Serviceable Obtainable Market):</a:t>
            </a:r>
            <a:r>
              <a:rPr lang="en-US" sz="29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Aim to capture </a:t>
            </a:r>
            <a:r>
              <a:rPr lang="en-US" b="true" sz="2999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5%</a:t>
            </a:r>
            <a:r>
              <a:rPr lang="en-US" sz="29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of Lusaka's health-conscious urban population within 3 years  which translates to 60,000 users.</a:t>
            </a:r>
          </a:p>
          <a:p>
            <a:pPr algn="l">
              <a:lnSpc>
                <a:spcPts val="4499"/>
              </a:lnSpc>
            </a:pP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22869"/>
            <a:ext cx="689673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Market Size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3" id="3"/>
          <p:cNvSpPr/>
          <p:nvPr/>
        </p:nvSpPr>
        <p:spPr>
          <a:xfrm rot="0"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4" id="4"/>
          <p:cNvSpPr/>
          <p:nvPr/>
        </p:nvSpPr>
        <p:spPr>
          <a:xfrm rot="0"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5" id="5"/>
          <p:cNvSpPr/>
          <p:nvPr/>
        </p:nvSpPr>
        <p:spPr>
          <a:xfrm rot="0"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6" id="6"/>
          <p:cNvSpPr/>
          <p:nvPr/>
        </p:nvSpPr>
        <p:spPr>
          <a:xfrm rot="0"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2622" y="259778"/>
            <a:ext cx="6812379" cy="8998522"/>
            <a:chOff x="0" y="0"/>
            <a:chExt cx="6438900" cy="85051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38900" cy="8505190"/>
            </a:xfrm>
            <a:custGeom>
              <a:avLst/>
              <a:gdLst/>
              <a:ahLst/>
              <a:cxnLst/>
              <a:rect r="r" b="b" t="t" l="l"/>
              <a:pathLst>
                <a:path h="8505190" w="6438900">
                  <a:moveTo>
                    <a:pt x="4916170" y="8505190"/>
                  </a:moveTo>
                  <a:lnTo>
                    <a:pt x="4627880" y="8505190"/>
                  </a:lnTo>
                  <a:lnTo>
                    <a:pt x="0" y="8072120"/>
                  </a:lnTo>
                  <a:lnTo>
                    <a:pt x="0" y="4405630"/>
                  </a:lnTo>
                  <a:lnTo>
                    <a:pt x="910590" y="0"/>
                  </a:lnTo>
                  <a:lnTo>
                    <a:pt x="6438900" y="0"/>
                  </a:lnTo>
                  <a:lnTo>
                    <a:pt x="6438900" y="671830"/>
                  </a:lnTo>
                  <a:lnTo>
                    <a:pt x="4916170" y="8505190"/>
                  </a:lnTo>
                  <a:close/>
                </a:path>
              </a:pathLst>
            </a:custGeom>
            <a:blipFill>
              <a:blip r:embed="rId2"/>
              <a:stretch>
                <a:fillRect l="-65869" t="0" r="-6586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38900" cy="8505190"/>
            </a:xfrm>
            <a:custGeom>
              <a:avLst/>
              <a:gdLst/>
              <a:ahLst/>
              <a:cxnLst/>
              <a:rect r="r" b="b" t="t" l="l"/>
              <a:pathLst>
                <a:path h="8505190" w="6438900">
                  <a:moveTo>
                    <a:pt x="910590" y="0"/>
                  </a:moveTo>
                  <a:lnTo>
                    <a:pt x="1898650" y="289560"/>
                  </a:lnTo>
                  <a:lnTo>
                    <a:pt x="0" y="4405630"/>
                  </a:lnTo>
                  <a:lnTo>
                    <a:pt x="910590" y="0"/>
                  </a:lnTo>
                  <a:close/>
                  <a:moveTo>
                    <a:pt x="3253740" y="8047990"/>
                  </a:moveTo>
                  <a:lnTo>
                    <a:pt x="4916170" y="8505190"/>
                  </a:lnTo>
                  <a:lnTo>
                    <a:pt x="6438900" y="671830"/>
                  </a:lnTo>
                  <a:lnTo>
                    <a:pt x="3253740" y="8047990"/>
                  </a:lnTo>
                  <a:close/>
                </a:path>
              </a:pathLst>
            </a:custGeom>
            <a:solidFill>
              <a:srgbClr val="0BB6B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973667" y="1490147"/>
            <a:ext cx="11314333" cy="6328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8"/>
              </a:lnSpc>
            </a:pPr>
            <a:r>
              <a:rPr lang="en-US" sz="2113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Competitor: MyFitnessPal</a:t>
            </a:r>
          </a:p>
          <a:p>
            <a:pPr algn="just">
              <a:lnSpc>
                <a:spcPts val="2958"/>
              </a:lnSpc>
            </a:pP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Offering: </a:t>
            </a: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Global calorie counter</a:t>
            </a:r>
          </a:p>
          <a:p>
            <a:pPr algn="just">
              <a:lnSpc>
                <a:spcPts val="2958"/>
              </a:lnSpc>
            </a:pP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ZaNuri’s Advantage: </a:t>
            </a: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Not localized and doesn't understand Zambian foods, portions, or budgets.</a:t>
            </a:r>
          </a:p>
          <a:p>
            <a:pPr algn="just">
              <a:lnSpc>
                <a:spcPts val="2958"/>
              </a:lnSpc>
            </a:pPr>
          </a:p>
          <a:p>
            <a:pPr algn="just">
              <a:lnSpc>
                <a:spcPts val="2958"/>
              </a:lnSpc>
            </a:pP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Competitor: </a:t>
            </a:r>
            <a:r>
              <a:rPr lang="en-US" sz="2113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WhatsApp Groups</a:t>
            </a:r>
          </a:p>
          <a:p>
            <a:pPr algn="just">
              <a:lnSpc>
                <a:spcPts val="2958"/>
              </a:lnSpc>
            </a:pP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Offering: </a:t>
            </a: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Word-of-mouth recipe sharing</a:t>
            </a:r>
          </a:p>
          <a:p>
            <a:pPr algn="just">
              <a:lnSpc>
                <a:spcPts val="2958"/>
              </a:lnSpc>
            </a:pP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ZaNuri’s Advantage: </a:t>
            </a: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Not personalized, chaotic, and time-consuming.</a:t>
            </a:r>
          </a:p>
          <a:p>
            <a:pPr algn="just">
              <a:lnSpc>
                <a:spcPts val="2958"/>
              </a:lnSpc>
            </a:pPr>
          </a:p>
          <a:p>
            <a:pPr algn="just">
              <a:lnSpc>
                <a:spcPts val="2958"/>
              </a:lnSpc>
            </a:pP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Competitor: </a:t>
            </a:r>
            <a:r>
              <a:rPr lang="en-US" sz="2113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Local Dieticians</a:t>
            </a:r>
          </a:p>
          <a:p>
            <a:pPr algn="just">
              <a:lnSpc>
                <a:spcPts val="2958"/>
              </a:lnSpc>
            </a:pP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Offering: </a:t>
            </a: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1-on-1 consultation</a:t>
            </a:r>
          </a:p>
          <a:p>
            <a:pPr algn="just">
              <a:lnSpc>
                <a:spcPts val="2958"/>
              </a:lnSpc>
            </a:pP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ZaNuri’s Advantage: </a:t>
            </a: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Excellent but expensive (&gt;ZMW 500/session) and not scalable.</a:t>
            </a:r>
          </a:p>
          <a:p>
            <a:pPr algn="just">
              <a:lnSpc>
                <a:spcPts val="2958"/>
              </a:lnSpc>
            </a:pPr>
          </a:p>
          <a:p>
            <a:pPr algn="just">
              <a:lnSpc>
                <a:spcPts val="2958"/>
              </a:lnSpc>
            </a:pPr>
            <a:r>
              <a:rPr lang="en-US" sz="211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Gap: None offer Zambian food-focused AI personalization integrated with local supply chains.</a:t>
            </a:r>
          </a:p>
          <a:p>
            <a:pPr algn="just" marL="0" indent="0" lvl="0">
              <a:lnSpc>
                <a:spcPts val="295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508761" y="257175"/>
            <a:ext cx="875053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19"/>
              </a:lnSpc>
            </a:pPr>
            <a:r>
              <a:rPr lang="en-US" b="true" sz="8099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Competitors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28686" y="0"/>
            <a:ext cx="15459314" cy="8729371"/>
            <a:chOff x="0" y="0"/>
            <a:chExt cx="20612418" cy="1163916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20612418" cy="1638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20"/>
                </a:lnSpc>
              </a:pPr>
              <a:r>
                <a:rPr lang="en-US" b="true" sz="8100">
                  <a:solidFill>
                    <a:srgbClr val="0BB6BC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Competitive Advantage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49485"/>
              <a:ext cx="18214487" cy="9689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90884" indent="-345442" lvl="1">
                <a:lnSpc>
                  <a:spcPts val="448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90113E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The Data Moat: Our AI becomes smarter and more uniquely Zambian with every user. This deep, localized dataset is impossible for global apps to replicate quickly.</a:t>
              </a:r>
            </a:p>
            <a:p>
              <a:pPr algn="just" marL="690884" indent="-345442" lvl="1">
                <a:lnSpc>
                  <a:spcPts val="448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90113E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The Ecosystem Moat: We connect two sides of the market (consumers and vendors), creating a powerful network effect. More users attract more vendors, which improves the service for all users.</a:t>
              </a:r>
            </a:p>
            <a:p>
              <a:pPr algn="just" marL="690884" indent="-345442" lvl="1">
                <a:lnSpc>
                  <a:spcPts val="448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90113E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Cultural Trust Moat: We are built by Zambians, for Zambians. Our team's deep cultural understanding ensures relevance and trust, which is critical in the food sector.</a:t>
              </a:r>
            </a:p>
            <a:p>
              <a:pPr algn="just" marL="690884" indent="-345442" lvl="1">
                <a:lnSpc>
                  <a:spcPts val="448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90113E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Capital-Efficient Model: Our asset-light approach, partnering with existing vendors, allows for rapid scaling without heavy infrastructure investment.</a:t>
              </a:r>
            </a:p>
            <a:p>
              <a:pPr algn="just">
                <a:lnSpc>
                  <a:spcPts val="448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6" id="6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3" id="3"/>
          <p:cNvSpPr/>
          <p:nvPr/>
        </p:nvSpPr>
        <p:spPr>
          <a:xfrm rot="0"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4" id="4"/>
          <p:cNvSpPr/>
          <p:nvPr/>
        </p:nvSpPr>
        <p:spPr>
          <a:xfrm rot="0"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5" id="5"/>
          <p:cNvSpPr/>
          <p:nvPr/>
        </p:nvSpPr>
        <p:spPr>
          <a:xfrm rot="0"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6" id="6"/>
          <p:cNvSpPr/>
          <p:nvPr/>
        </p:nvSpPr>
        <p:spPr>
          <a:xfrm rot="0">
            <a:off x="1703359" y="3357575"/>
            <a:ext cx="14881282" cy="0"/>
          </a:xfrm>
          <a:prstGeom prst="line">
            <a:avLst/>
          </a:prstGeom>
          <a:ln cap="flat" w="19050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0">
            <a:off x="1703359" y="8136464"/>
            <a:ext cx="14881282" cy="0"/>
          </a:xfrm>
          <a:prstGeom prst="line">
            <a:avLst/>
          </a:prstGeom>
          <a:ln cap="flat" w="19050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0">
            <a:off x="8659450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9" id="9"/>
          <p:cNvSpPr/>
          <p:nvPr/>
        </p:nvSpPr>
        <p:spPr>
          <a:xfrm rot="0">
            <a:off x="6673531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6913736" y="2493356"/>
            <a:ext cx="1524842" cy="79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Aug - Sep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75969" y="2493356"/>
            <a:ext cx="1555953" cy="79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Sep - Oct 2025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10645368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11029376" y="2493356"/>
            <a:ext cx="1316017" cy="79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Oct - Nov 2025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12631287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5" id="15"/>
          <p:cNvSpPr/>
          <p:nvPr/>
        </p:nvSpPr>
        <p:spPr>
          <a:xfrm rot="0">
            <a:off x="14612169" y="2467083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6" id="16"/>
          <p:cNvSpPr txBox="true"/>
          <p:nvPr/>
        </p:nvSpPr>
        <p:spPr>
          <a:xfrm rot="0">
            <a:off x="12855965" y="2493356"/>
            <a:ext cx="1647013" cy="80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4"/>
              </a:lnSpc>
              <a:spcBef>
                <a:spcPct val="0"/>
              </a:spcBef>
            </a:pPr>
            <a:r>
              <a:rPr lang="en-US" sz="2331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Nov - Dec 2025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36191" y="2493356"/>
            <a:ext cx="1648450" cy="79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Dec - Jan 2025/26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68802" y="2696086"/>
            <a:ext cx="437069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Tasks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97743" y="3419744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Conduct Market Research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97743" y="4022985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Define Product Features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97743" y="4626226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Prototype Development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97743" y="5229466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Begin Development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97743" y="5832707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User Testing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97743" y="6435948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MVP Launched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97743" y="7039189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Early Validation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97743" y="7642429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Initial Partnerships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6673184" y="3424302"/>
            <a:ext cx="1972820" cy="0"/>
          </a:xfrm>
          <a:prstGeom prst="line">
            <a:avLst/>
          </a:prstGeom>
          <a:ln cap="flat" w="485775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0">
            <a:off x="7659594" y="4027543"/>
            <a:ext cx="2972328" cy="0"/>
          </a:xfrm>
          <a:prstGeom prst="line">
            <a:avLst/>
          </a:prstGeom>
          <a:ln cap="flat" w="485775">
            <a:solidFill>
              <a:srgbClr val="0BB6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0">
            <a:off x="7659594" y="4603308"/>
            <a:ext cx="2012985" cy="0"/>
          </a:xfrm>
          <a:prstGeom prst="line">
            <a:avLst/>
          </a:prstGeom>
          <a:ln cap="flat" w="485775">
            <a:solidFill>
              <a:srgbClr val="FF66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0">
            <a:off x="12631287" y="6402324"/>
            <a:ext cx="2962913" cy="0"/>
          </a:xfrm>
          <a:prstGeom prst="line">
            <a:avLst/>
          </a:prstGeom>
          <a:ln cap="flat" w="485775">
            <a:solidFill>
              <a:srgbClr val="0831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0">
            <a:off x="14603759" y="6996645"/>
            <a:ext cx="1980882" cy="0"/>
          </a:xfrm>
          <a:prstGeom prst="line">
            <a:avLst/>
          </a:prstGeom>
          <a:ln cap="flat" w="485775">
            <a:solidFill>
              <a:srgbClr val="CF6E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0">
            <a:off x="15598405" y="7590073"/>
            <a:ext cx="986236" cy="0"/>
          </a:xfrm>
          <a:prstGeom prst="line">
            <a:avLst/>
          </a:prstGeom>
          <a:ln cap="flat" w="485775">
            <a:solidFill>
              <a:srgbClr val="FF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0">
            <a:off x="10645368" y="5214576"/>
            <a:ext cx="3966801" cy="0"/>
          </a:xfrm>
          <a:prstGeom prst="line">
            <a:avLst/>
          </a:prstGeom>
          <a:ln cap="flat" w="485775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0">
            <a:off x="9672578" y="5809789"/>
            <a:ext cx="3944944" cy="0"/>
          </a:xfrm>
          <a:prstGeom prst="line">
            <a:avLst/>
          </a:prstGeom>
          <a:ln cap="flat" w="485775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1703359" y="343008"/>
            <a:ext cx="14733814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19"/>
              </a:lnSpc>
            </a:pPr>
            <a:r>
              <a:rPr lang="en-US" b="true" sz="8099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Project Traction</a:t>
            </a:r>
          </a:p>
        </p:txBody>
      </p:sp>
      <p:sp>
        <p:nvSpPr>
          <p:cNvPr name="AutoShape 36" id="36"/>
          <p:cNvSpPr/>
          <p:nvPr/>
        </p:nvSpPr>
        <p:spPr>
          <a:xfrm rot="0"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TextBox 37" id="37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341197" cy="10287000"/>
            <a:chOff x="0" y="0"/>
            <a:chExt cx="12454930" cy="13716000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454930" cy="13716000"/>
            </a:xfrm>
            <a:prstGeom prst="rect">
              <a:avLst/>
            </a:prstGeom>
            <a:solidFill>
              <a:srgbClr val="0BB6B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2583708"/>
            <a:ext cx="6200420" cy="6200420"/>
          </a:xfrm>
          <a:custGeom>
            <a:avLst/>
            <a:gdLst/>
            <a:ahLst/>
            <a:cxnLst/>
            <a:rect r="r" b="b" t="t" l="l"/>
            <a:pathLst>
              <a:path h="6200420" w="6200420">
                <a:moveTo>
                  <a:pt x="0" y="0"/>
                </a:moveTo>
                <a:lnTo>
                  <a:pt x="6200420" y="0"/>
                </a:lnTo>
                <a:lnTo>
                  <a:pt x="6200420" y="6200420"/>
                </a:lnTo>
                <a:lnTo>
                  <a:pt x="0" y="6200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4813"/>
            <a:ext cx="14733814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19"/>
              </a:lnSpc>
            </a:pPr>
            <a:r>
              <a:rPr lang="en-US" b="true" sz="8099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Business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2545608"/>
            <a:ext cx="9144000" cy="426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b="true" sz="1874" spc="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Freemium Subscription:</a:t>
            </a:r>
          </a:p>
          <a:p>
            <a:pPr algn="ctr" marL="404668" indent="-202334" lvl="1">
              <a:lnSpc>
                <a:spcPts val="2624"/>
              </a:lnSpc>
              <a:buFont typeface="Arial"/>
              <a:buChar char="•"/>
            </a:pPr>
            <a:r>
              <a:rPr lang="en-US" b="true" sz="1874" spc="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Basic:</a:t>
            </a:r>
            <a:r>
              <a:rPr lang="en-US" sz="1874" spc="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Free (meal plans, shopping lists - ad-supported).</a:t>
            </a:r>
          </a:p>
          <a:p>
            <a:pPr algn="ctr" marL="404668" indent="-202334" lvl="1">
              <a:lnSpc>
                <a:spcPts val="2624"/>
              </a:lnSpc>
              <a:buFont typeface="Arial"/>
              <a:buChar char="•"/>
            </a:pPr>
            <a:r>
              <a:rPr lang="en-US" b="true" sz="1874" spc="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Premium (ZMW 45/month or ZMW 450/year):</a:t>
            </a:r>
            <a:r>
              <a:rPr lang="en-US" sz="1874" spc="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Ad-free, advanced analytics, exclusive recipes, dietitian chat support.</a:t>
            </a:r>
          </a:p>
          <a:p>
            <a:pPr algn="ctr">
              <a:lnSpc>
                <a:spcPts val="2624"/>
              </a:lnSpc>
            </a:pPr>
          </a:p>
          <a:p>
            <a:pPr algn="ctr">
              <a:lnSpc>
                <a:spcPts val="2624"/>
              </a:lnSpc>
            </a:pPr>
            <a:r>
              <a:rPr lang="en-US" b="true" sz="1874" spc="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Transaction Fees:</a:t>
            </a:r>
            <a:r>
              <a:rPr lang="en-US" sz="1874" spc="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5-10% commission on all sales generated through our vendor marketplace.</a:t>
            </a:r>
          </a:p>
          <a:p>
            <a:pPr algn="ctr">
              <a:lnSpc>
                <a:spcPts val="2624"/>
              </a:lnSpc>
            </a:pPr>
          </a:p>
          <a:p>
            <a:pPr algn="ctr">
              <a:lnSpc>
                <a:spcPts val="2624"/>
              </a:lnSpc>
            </a:pPr>
            <a:r>
              <a:rPr lang="en-US" b="true" sz="1874" spc="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B2B SaaS Licensing:</a:t>
            </a:r>
            <a:r>
              <a:rPr lang="en-US" sz="1874" spc="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ZMW 100 Monthly fee per employee for corporate wellness packages offered to companies.</a:t>
            </a:r>
          </a:p>
          <a:p>
            <a:pPr algn="ctr">
              <a:lnSpc>
                <a:spcPts val="2624"/>
              </a:lnSpc>
            </a:pPr>
          </a:p>
          <a:p>
            <a:pPr algn="ctr">
              <a:lnSpc>
                <a:spcPts val="2624"/>
              </a:lnSpc>
            </a:pPr>
            <a:r>
              <a:rPr lang="en-US" b="true" sz="1874" spc="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Anonymized Data Insights:</a:t>
            </a:r>
            <a:r>
              <a:rPr lang="en-US" sz="1874" spc="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Sell aggregated, anonymized trend data to FMCG companies and agricultural agencies.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02317" y="3097127"/>
            <a:ext cx="16135052" cy="405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0361" indent="-280180" lvl="1">
              <a:lnSpc>
                <a:spcPts val="3633"/>
              </a:lnSpc>
              <a:buFont typeface="Arial"/>
              <a:buChar char="•"/>
            </a:pPr>
            <a:r>
              <a:rPr lang="en-US" b="true" sz="2595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Phase 1: Digital-First Community Building:</a:t>
            </a:r>
            <a:r>
              <a:rPr lang="en-US" sz="25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Targeted social media campaigns (Facebook, Instagram, TikTok, and WhatsApp) focusing on health, parenting, and local food groups in Lusaka.</a:t>
            </a:r>
          </a:p>
          <a:p>
            <a:pPr algn="just" marL="560361" indent="-280180" lvl="1">
              <a:lnSpc>
                <a:spcPts val="3633"/>
              </a:lnSpc>
              <a:buFont typeface="Arial"/>
              <a:buChar char="•"/>
            </a:pPr>
            <a:r>
              <a:rPr lang="en-US" b="true" sz="2595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Phase 2: Strategic On-the-Ground Partnerships:</a:t>
            </a:r>
          </a:p>
          <a:p>
            <a:pPr algn="just" marL="1120722" indent="-373574" lvl="2">
              <a:lnSpc>
                <a:spcPts val="3633"/>
              </a:lnSpc>
              <a:buFont typeface="Arial"/>
              <a:buChar char="⚬"/>
            </a:pPr>
            <a:r>
              <a:rPr lang="en-US" b="true" sz="2595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Gyms &amp; Clinics/Hospitals:</a:t>
            </a:r>
            <a:r>
              <a:rPr lang="en-US" sz="25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Offer discounts to their members/patients.</a:t>
            </a:r>
          </a:p>
          <a:p>
            <a:pPr algn="just" marL="1120722" indent="-373574" lvl="2">
              <a:lnSpc>
                <a:spcPts val="3633"/>
              </a:lnSpc>
              <a:buFont typeface="Arial"/>
              <a:buChar char="⚬"/>
            </a:pPr>
            <a:r>
              <a:rPr lang="en-US" b="true" sz="2595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Corporate Partnerships:</a:t>
            </a:r>
            <a:r>
              <a:rPr lang="en-US" sz="25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Pilot with 2-3 major Lusaka-based companies for their staff.</a:t>
            </a:r>
          </a:p>
          <a:p>
            <a:pPr algn="just" marL="1120722" indent="-373574" lvl="2">
              <a:lnSpc>
                <a:spcPts val="3633"/>
              </a:lnSpc>
              <a:buFont typeface="Arial"/>
              <a:buChar char="⚬"/>
            </a:pPr>
            <a:r>
              <a:rPr lang="en-US" b="true" sz="2595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Vendor Onboarding:</a:t>
            </a:r>
            <a:r>
              <a:rPr lang="en-US" sz="25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Aggressively sign up popular market stalls and supermarkets.</a:t>
            </a:r>
          </a:p>
          <a:p>
            <a:pPr algn="just" marL="560361" indent="-280180" lvl="1">
              <a:lnSpc>
                <a:spcPts val="3633"/>
              </a:lnSpc>
              <a:buFont typeface="Arial"/>
              <a:buChar char="•"/>
            </a:pPr>
            <a:r>
              <a:rPr lang="en-US" b="true" sz="2595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Phase 3: Local Influencer &amp; Radio Marketing:</a:t>
            </a:r>
            <a:r>
              <a:rPr lang="en-US" sz="25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Partner with trusted local nutritionists, chefs, and health influencers for credibility. Use local radio for mass reach.</a:t>
            </a:r>
          </a:p>
          <a:p>
            <a:pPr algn="just">
              <a:lnSpc>
                <a:spcPts val="316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382668" y="667172"/>
            <a:ext cx="1394463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Go To Market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28150" y="2215670"/>
            <a:ext cx="15565349" cy="4099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mission is deeply intertwined with positive societal change:</a:t>
            </a:r>
          </a:p>
          <a:p>
            <a:pPr algn="l" marL="512150" indent="-256075" lvl="1">
              <a:lnSpc>
                <a:spcPts val="3321"/>
              </a:lnSpc>
              <a:buFont typeface="Arial"/>
              <a:buChar char="•"/>
            </a:pPr>
            <a:r>
              <a:rPr lang="en-US" b="true" sz="237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Improving Public Health:</a:t>
            </a:r>
            <a:r>
              <a:rPr lang="en-US" sz="23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Empowering individuals to prevent and manage diet-related diseases, reducing the future burden on the national healthcare system.</a:t>
            </a:r>
          </a:p>
          <a:p>
            <a:pPr algn="l" marL="512150" indent="-256075" lvl="1">
              <a:lnSpc>
                <a:spcPts val="3321"/>
              </a:lnSpc>
              <a:buFont typeface="Arial"/>
              <a:buChar char="•"/>
            </a:pPr>
            <a:r>
              <a:rPr lang="en-US" b="true" sz="237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Boosting Local Economies:</a:t>
            </a:r>
            <a:r>
              <a:rPr lang="en-US" sz="23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Creating a predictable revenue stream for local smallholder farmers and vendors by connecting them directly to consumers.</a:t>
            </a:r>
          </a:p>
          <a:p>
            <a:pPr algn="l" marL="512150" indent="-256075" lvl="1">
              <a:lnSpc>
                <a:spcPts val="3321"/>
              </a:lnSpc>
              <a:buFont typeface="Arial"/>
              <a:buChar char="•"/>
            </a:pPr>
            <a:r>
              <a:rPr lang="en-US" b="true" sz="237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Reducing Food Waste:</a:t>
            </a:r>
            <a:r>
              <a:rPr lang="en-US" sz="23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Smart planning and lists ensure users only buy what they need, reducing household food waste.</a:t>
            </a:r>
          </a:p>
          <a:p>
            <a:pPr algn="l" marL="512150" indent="-256075" lvl="1">
              <a:lnSpc>
                <a:spcPts val="3321"/>
              </a:lnSpc>
              <a:buFont typeface="Arial"/>
              <a:buChar char="•"/>
            </a:pPr>
            <a:r>
              <a:rPr lang="en-US" b="true" sz="237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Promoting Food Security:</a:t>
            </a:r>
            <a:r>
              <a:rPr lang="en-US" sz="23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Making healthy eating knowledge and resources accessible and affordable to a broader segment of the population, not just the wealthy.</a:t>
            </a:r>
          </a:p>
          <a:p>
            <a:pPr algn="l">
              <a:lnSpc>
                <a:spcPts val="289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382668" y="667172"/>
            <a:ext cx="1394463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Social Impact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4265" y="1685125"/>
            <a:ext cx="16959470" cy="574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2"/>
              </a:lnSpc>
            </a:pPr>
          </a:p>
          <a:p>
            <a:pPr algn="l">
              <a:lnSpc>
                <a:spcPts val="4293"/>
              </a:lnSpc>
            </a:pPr>
            <a:r>
              <a:rPr lang="en-US" sz="2862" spc="14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We are seeking </a:t>
            </a:r>
            <a:r>
              <a:rPr lang="en-US" sz="2862" spc="14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$200,000</a:t>
            </a:r>
            <a:r>
              <a:rPr lang="en-US" sz="2862" spc="14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in seed funding for </a:t>
            </a:r>
            <a:r>
              <a:rPr lang="en-US" sz="2862" spc="14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15% equity</a:t>
            </a:r>
            <a:r>
              <a:rPr lang="en-US" sz="2862" spc="14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  <a:p>
            <a:pPr algn="l">
              <a:lnSpc>
                <a:spcPts val="4293"/>
              </a:lnSpc>
            </a:pPr>
          </a:p>
          <a:p>
            <a:pPr algn="l">
              <a:lnSpc>
                <a:spcPts val="4293"/>
              </a:lnSpc>
            </a:pPr>
            <a:r>
              <a:rPr lang="en-US" sz="2862" spc="14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Use of Funds:</a:t>
            </a:r>
          </a:p>
          <a:p>
            <a:pPr algn="l" marL="617916" indent="-308958" lvl="1">
              <a:lnSpc>
                <a:spcPts val="4293"/>
              </a:lnSpc>
              <a:buFont typeface="Arial"/>
              <a:buChar char="•"/>
            </a:pPr>
            <a:r>
              <a:rPr lang="en-US" b="true" sz="2862" spc="14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50% - Product &amp; Tech Development:</a:t>
            </a:r>
            <a:r>
              <a:rPr lang="en-US" sz="2862" spc="14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Hiring 2 full-time developers, API costs, and platform scaling.</a:t>
            </a:r>
          </a:p>
          <a:p>
            <a:pPr algn="l" marL="617916" indent="-308958" lvl="1">
              <a:lnSpc>
                <a:spcPts val="4293"/>
              </a:lnSpc>
              <a:buFont typeface="Arial"/>
              <a:buChar char="•"/>
            </a:pPr>
            <a:r>
              <a:rPr lang="en-US" b="true" sz="2862" spc="14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25% - Marketing &amp; User Acquisition:</a:t>
            </a:r>
            <a:r>
              <a:rPr lang="en-US" sz="2862" spc="14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Digital marketing, partnership development, and community events.</a:t>
            </a:r>
          </a:p>
          <a:p>
            <a:pPr algn="l" marL="617916" indent="-308958" lvl="1">
              <a:lnSpc>
                <a:spcPts val="4293"/>
              </a:lnSpc>
              <a:buFont typeface="Arial"/>
              <a:buChar char="•"/>
            </a:pPr>
            <a:r>
              <a:rPr lang="en-US" b="true" sz="2862" spc="14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15% - Team Expansion:</a:t>
            </a:r>
            <a:r>
              <a:rPr lang="en-US" sz="2862" spc="14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Hiring key roles for Business Development and Community Management.</a:t>
            </a:r>
          </a:p>
          <a:p>
            <a:pPr algn="l" marL="617916" indent="-308958" lvl="1">
              <a:lnSpc>
                <a:spcPts val="4293"/>
              </a:lnSpc>
              <a:buFont typeface="Arial"/>
              <a:buChar char="•"/>
            </a:pPr>
            <a:r>
              <a:rPr lang="en-US" b="true" sz="2862" spc="14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10% - Legal &amp; Operational Buffer.</a:t>
            </a:r>
          </a:p>
          <a:p>
            <a:pPr algn="l">
              <a:lnSpc>
                <a:spcPts val="4293"/>
              </a:lnSpc>
            </a:pPr>
          </a:p>
          <a:p>
            <a:pPr algn="l">
              <a:lnSpc>
                <a:spcPts val="400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57822"/>
            <a:ext cx="689673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Our Ask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439723" y="3240765"/>
            <a:ext cx="2533615" cy="2533605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-28348" r="-19984" b="-27606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5" id="5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7481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05725" y="1028700"/>
            <a:ext cx="13944632" cy="1985652"/>
            <a:chOff x="0" y="0"/>
            <a:chExt cx="18592843" cy="264753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18592843" cy="1638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20"/>
                </a:lnSpc>
              </a:pPr>
              <a:r>
                <a:rPr lang="en-US" b="true" sz="8100" u="none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Team Members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939934"/>
              <a:ext cx="16429858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44010" y="6715205"/>
            <a:ext cx="2429727" cy="1520205"/>
            <a:chOff x="0" y="0"/>
            <a:chExt cx="3239636" cy="202694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3239636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SHATULO CHIKUMBE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426230"/>
              <a:ext cx="3239636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90113E"/>
                  </a:solidFill>
                  <a:latin typeface="Barlow"/>
                  <a:ea typeface="Barlow"/>
                  <a:cs typeface="Barlow"/>
                  <a:sym typeface="Barlow"/>
                </a:rPr>
                <a:t>FOUNDER/CEO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34634" y="-84320"/>
            <a:ext cx="10455640" cy="10455640"/>
          </a:xfrm>
          <a:custGeom>
            <a:avLst/>
            <a:gdLst/>
            <a:ahLst/>
            <a:cxnLst/>
            <a:rect r="r" b="b" t="t" l="l"/>
            <a:pathLst>
              <a:path h="10455640" w="10455640">
                <a:moveTo>
                  <a:pt x="0" y="0"/>
                </a:moveTo>
                <a:lnTo>
                  <a:pt x="10455640" y="0"/>
                </a:lnTo>
                <a:lnTo>
                  <a:pt x="10455640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44460" y="3053956"/>
            <a:ext cx="10199079" cy="4179088"/>
            <a:chOff x="0" y="0"/>
            <a:chExt cx="13598772" cy="557211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85750"/>
              <a:ext cx="13598772" cy="2762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00"/>
                </a:lnSpc>
              </a:pPr>
              <a:r>
                <a:rPr lang="en-US" sz="15000" b="true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Thank you!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365915"/>
              <a:ext cx="13219076" cy="2206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 b="true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Email: chikumbeshats4@gmail.com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 b="true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 </a:t>
              </a:r>
              <a:r>
                <a:rPr lang="en-US" b="true" sz="3199" u="sng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  <a:hlinkClick r:id="rId4" tooltip="https://www.linkedin.com/in/lorraine-wambiru/"/>
                </a:rPr>
                <a:t>Linkedin</a:t>
              </a:r>
            </a:p>
            <a:p>
              <a:pPr algn="ctr">
                <a:lnSpc>
                  <a:spcPts val="44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92730" y="1028700"/>
            <a:ext cx="2793363" cy="1396681"/>
          </a:xfrm>
          <a:custGeom>
            <a:avLst/>
            <a:gdLst/>
            <a:ahLst/>
            <a:cxnLst/>
            <a:rect r="r" b="b" t="t" l="l"/>
            <a:pathLst>
              <a:path h="1396681" w="2793363">
                <a:moveTo>
                  <a:pt x="0" y="0"/>
                </a:moveTo>
                <a:lnTo>
                  <a:pt x="2793363" y="0"/>
                </a:lnTo>
                <a:lnTo>
                  <a:pt x="2793363" y="1396681"/>
                </a:lnTo>
                <a:lnTo>
                  <a:pt x="0" y="13966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2825260" y="6798102"/>
            <a:ext cx="2438400" cy="2438400"/>
          </a:xfrm>
          <a:custGeom>
            <a:avLst/>
            <a:gdLst/>
            <a:ahLst/>
            <a:cxnLst/>
            <a:rect r="r" b="b" t="t" l="l"/>
            <a:pathLst>
              <a:path h="2438400" w="2438400">
                <a:moveTo>
                  <a:pt x="2438400" y="0"/>
                </a:moveTo>
                <a:lnTo>
                  <a:pt x="0" y="0"/>
                </a:lnTo>
                <a:lnTo>
                  <a:pt x="0" y="2438400"/>
                </a:lnTo>
                <a:lnTo>
                  <a:pt x="2438400" y="2438400"/>
                </a:lnTo>
                <a:lnTo>
                  <a:pt x="24384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9257" y="893789"/>
            <a:ext cx="1079292" cy="269823"/>
          </a:xfrm>
          <a:custGeom>
            <a:avLst/>
            <a:gdLst/>
            <a:ahLst/>
            <a:cxnLst/>
            <a:rect r="r" b="b" t="t" l="l"/>
            <a:pathLst>
              <a:path h="269823" w="1079292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DAGxcgE52gw</dc:identifier>
  <dcterms:modified xsi:type="dcterms:W3CDTF">2011-08-01T06:04:30Z</dcterms:modified>
  <cp:revision>1</cp:revision>
  <dc:title>Copy of PLP Standard Pitch Deck Template</dc:title>
</cp:coreProperties>
</file>